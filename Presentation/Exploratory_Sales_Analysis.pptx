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7" r:id="rId3"/>
    <p:sldId id="276" r:id="rId4"/>
    <p:sldId id="277" r:id="rId5"/>
    <p:sldId id="292" r:id="rId6"/>
    <p:sldId id="295" r:id="rId7"/>
    <p:sldId id="281" r:id="rId8"/>
    <p:sldId id="282" r:id="rId9"/>
    <p:sldId id="290" r:id="rId10"/>
    <p:sldId id="259" r:id="rId11"/>
    <p:sldId id="293" r:id="rId12"/>
    <p:sldId id="284" r:id="rId13"/>
    <p:sldId id="258" r:id="rId14"/>
    <p:sldId id="286" r:id="rId15"/>
    <p:sldId id="266" r:id="rId16"/>
    <p:sldId id="270" r:id="rId17"/>
    <p:sldId id="287" r:id="rId18"/>
    <p:sldId id="274" r:id="rId19"/>
    <p:sldId id="288" r:id="rId20"/>
    <p:sldId id="289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Countries%20Behaviou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Countries%20Behaviou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EXCEL%20No%20of%20cte%20products%20handled%20by%20employee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onaStuff\Data%20Anslyst%20Classwork\Northwind_Project1\Business%20Expansion\CROSS%20Selling%20produ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[Countries Behaviour.xlsx]Countries Behaviour!PivotTable1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Countries Contribution</a:t>
            </a:r>
            <a:r>
              <a:rPr lang="en-US" b="1" baseline="0">
                <a:solidFill>
                  <a:sysClr val="windowText" lastClr="000000"/>
                </a:solidFill>
              </a:rPr>
              <a:t> Every Year</a:t>
            </a:r>
            <a:endParaRPr lang="en-US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'Countries Behaviour'!$B$21:$B$22</c:f>
              <c:strCache>
                <c:ptCount val="1"/>
                <c:pt idx="0">
                  <c:v>Argentina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Behaviour'!$B$23:$B$26</c:f>
              <c:numCache>
                <c:formatCode>General</c:formatCode>
                <c:ptCount val="3"/>
                <c:pt idx="2">
                  <c:v>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6-415E-B2E2-3E982250A96A}"/>
            </c:ext>
          </c:extLst>
        </c:ser>
        <c:ser>
          <c:idx val="1"/>
          <c:order val="1"/>
          <c:tx>
            <c:strRef>
              <c:f>'Countries Behaviour'!$C$21:$C$22</c:f>
              <c:strCache>
                <c:ptCount val="1"/>
                <c:pt idx="0">
                  <c:v>Austria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Behaviour'!$C$23:$C$26</c:f>
              <c:numCache>
                <c:formatCode>General</c:formatCode>
                <c:ptCount val="3"/>
                <c:pt idx="0">
                  <c:v>14756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06-415E-B2E2-3E982250A96A}"/>
            </c:ext>
          </c:extLst>
        </c:ser>
        <c:ser>
          <c:idx val="2"/>
          <c:order val="2"/>
          <c:tx>
            <c:strRef>
              <c:f>'Countries Behaviour'!$D$21:$D$22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Behaviour'!$D$23:$D$26</c:f>
              <c:numCache>
                <c:formatCode>General</c:formatCode>
                <c:ptCount val="3"/>
                <c:pt idx="0">
                  <c:v>8432</c:v>
                </c:pt>
                <c:pt idx="1">
                  <c:v>2371.5</c:v>
                </c:pt>
                <c:pt idx="2">
                  <c:v>15810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06-415E-B2E2-3E982250A96A}"/>
            </c:ext>
          </c:extLst>
        </c:ser>
        <c:ser>
          <c:idx val="3"/>
          <c:order val="3"/>
          <c:tx>
            <c:strRef>
              <c:f>'Countries Behaviour'!$E$21:$E$22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Behaviour'!$E$23:$E$26</c:f>
              <c:numCache>
                <c:formatCode>General</c:formatCode>
                <c:ptCount val="3"/>
                <c:pt idx="1">
                  <c:v>10329.200000000001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06-415E-B2E2-3E982250A96A}"/>
            </c:ext>
          </c:extLst>
        </c:ser>
        <c:ser>
          <c:idx val="4"/>
          <c:order val="4"/>
          <c:tx>
            <c:strRef>
              <c:f>'Countries Behaviour'!$F$21:$F$22</c:f>
              <c:strCache>
                <c:ptCount val="1"/>
                <c:pt idx="0">
                  <c:v>Denmark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Behaviour'!$F$23:$F$26</c:f>
              <c:numCache>
                <c:formatCode>General</c:formatCode>
                <c:ptCount val="3"/>
                <c:pt idx="1">
                  <c:v>10540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06-415E-B2E2-3E982250A96A}"/>
            </c:ext>
          </c:extLst>
        </c:ser>
        <c:ser>
          <c:idx val="5"/>
          <c:order val="5"/>
          <c:tx>
            <c:strRef>
              <c:f>'Countries Behaviour'!$G$21:$G$22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Behaviour'!$G$23:$G$26</c:f>
              <c:numCache>
                <c:formatCode>General</c:formatCode>
                <c:ptCount val="3"/>
                <c:pt idx="0">
                  <c:v>2108</c:v>
                </c:pt>
                <c:pt idx="2">
                  <c:v>1317.5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06-415E-B2E2-3E982250A96A}"/>
            </c:ext>
          </c:extLst>
        </c:ser>
        <c:ser>
          <c:idx val="6"/>
          <c:order val="6"/>
          <c:tx>
            <c:strRef>
              <c:f>'Countries Behaviour'!$H$21:$H$22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Behaviour'!$H$23:$H$26</c:f>
              <c:numCache>
                <c:formatCode>General</c:formatCode>
                <c:ptCount val="3"/>
                <c:pt idx="1">
                  <c:v>7905</c:v>
                </c:pt>
                <c:pt idx="2">
                  <c:v>23715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06-415E-B2E2-3E982250A96A}"/>
            </c:ext>
          </c:extLst>
        </c:ser>
        <c:ser>
          <c:idx val="7"/>
          <c:order val="7"/>
          <c:tx>
            <c:strRef>
              <c:f>'Countries Behaviour'!$I$21:$I$22</c:f>
              <c:strCache>
                <c:ptCount val="1"/>
                <c:pt idx="0">
                  <c:v>Mexico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Behaviour'!$I$23:$I$26</c:f>
              <c:numCache>
                <c:formatCode>General</c:formatCode>
                <c:ptCount val="3"/>
                <c:pt idx="1">
                  <c:v>3952.5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B06-415E-B2E2-3E982250A96A}"/>
            </c:ext>
          </c:extLst>
        </c:ser>
        <c:ser>
          <c:idx val="8"/>
          <c:order val="8"/>
          <c:tx>
            <c:strRef>
              <c:f>'Countries Behaviour'!$J$21:$J$22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Behaviour'!$J$23:$J$26</c:f>
              <c:numCache>
                <c:formatCode>General</c:formatCode>
                <c:ptCount val="3"/>
                <c:pt idx="2">
                  <c:v>2108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06-415E-B2E2-3E982250A96A}"/>
            </c:ext>
          </c:extLst>
        </c:ser>
        <c:ser>
          <c:idx val="9"/>
          <c:order val="9"/>
          <c:tx>
            <c:strRef>
              <c:f>'Countries Behaviour'!$K$21:$K$22</c:f>
              <c:strCache>
                <c:ptCount val="1"/>
                <c:pt idx="0">
                  <c:v>Sweden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Behaviour'!$K$23:$K$26</c:f>
              <c:numCache>
                <c:formatCode>General</c:formatCode>
                <c:ptCount val="3"/>
                <c:pt idx="1">
                  <c:v>3952.5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B06-415E-B2E2-3E982250A96A}"/>
            </c:ext>
          </c:extLst>
        </c:ser>
        <c:ser>
          <c:idx val="10"/>
          <c:order val="10"/>
          <c:tx>
            <c:strRef>
              <c:f>'Countries Behaviour'!$L$21:$L$22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'Countries Behaviour'!$A$23:$A$26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Behaviour'!$L$23:$L$26</c:f>
              <c:numCache>
                <c:formatCode>General</c:formatCode>
                <c:ptCount val="3"/>
                <c:pt idx="0">
                  <c:v>4216</c:v>
                </c:pt>
                <c:pt idx="1">
                  <c:v>12911.5</c:v>
                </c:pt>
                <c:pt idx="2">
                  <c:v>25032.5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B06-415E-B2E2-3E982250A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43535840"/>
        <c:axId val="1043532480"/>
      </c:barChart>
      <c:catAx>
        <c:axId val="104353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043532480"/>
        <c:crosses val="autoZero"/>
        <c:auto val="1"/>
        <c:lblAlgn val="ctr"/>
        <c:lblOffset val="100"/>
        <c:noMultiLvlLbl val="0"/>
      </c:catAx>
      <c:valAx>
        <c:axId val="1043532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04353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[Countries Behaviour.xlsx]Countries Behaviour!PivotTable5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Top Country Revenue Growth over</a:t>
            </a:r>
            <a:r>
              <a:rPr lang="en-US" b="1" baseline="0">
                <a:solidFill>
                  <a:sysClr val="windowText" lastClr="000000"/>
                </a:solidFill>
              </a:rPr>
              <a:t> Time</a:t>
            </a:r>
            <a:endParaRPr lang="en-US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'Countries Behaviour'!$B$59:$B$60</c:f>
              <c:strCache>
                <c:ptCount val="1"/>
                <c:pt idx="0">
                  <c:v>Brazil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'Countries Behaviour'!$A$61:$A$64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Behaviour'!$B$61:$B$64</c:f>
              <c:numCache>
                <c:formatCode>General</c:formatCode>
                <c:ptCount val="3"/>
                <c:pt idx="0">
                  <c:v>8432</c:v>
                </c:pt>
                <c:pt idx="1">
                  <c:v>2371.5</c:v>
                </c:pt>
                <c:pt idx="2">
                  <c:v>15810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D7-4771-AAC9-1D4FFB26F184}"/>
            </c:ext>
          </c:extLst>
        </c:ser>
        <c:ser>
          <c:idx val="1"/>
          <c:order val="1"/>
          <c:tx>
            <c:strRef>
              <c:f>'Countries Behaviour'!$C$59:$C$60</c:f>
              <c:strCache>
                <c:ptCount val="1"/>
                <c:pt idx="0">
                  <c:v>Germany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'Countries Behaviour'!$A$61:$A$64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Behaviour'!$C$61:$C$64</c:f>
              <c:numCache>
                <c:formatCode>General</c:formatCode>
                <c:ptCount val="3"/>
                <c:pt idx="1">
                  <c:v>7905</c:v>
                </c:pt>
                <c:pt idx="2">
                  <c:v>23715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D7-4771-AAC9-1D4FFB26F184}"/>
            </c:ext>
          </c:extLst>
        </c:ser>
        <c:ser>
          <c:idx val="2"/>
          <c:order val="2"/>
          <c:tx>
            <c:strRef>
              <c:f>'Countries Behaviour'!$D$59:$D$60</c:f>
              <c:strCache>
                <c:ptCount val="1"/>
                <c:pt idx="0">
                  <c:v>USA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'Countries Behaviour'!$A$61:$A$64</c:f>
              <c:strCache>
                <c:ptCount val="3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</c:strCache>
            </c:strRef>
          </c:cat>
          <c:val>
            <c:numRef>
              <c:f>'Countries Behaviour'!$D$61:$D$64</c:f>
              <c:numCache>
                <c:formatCode>General</c:formatCode>
                <c:ptCount val="3"/>
                <c:pt idx="0">
                  <c:v>4216</c:v>
                </c:pt>
                <c:pt idx="1">
                  <c:v>12911.5</c:v>
                </c:pt>
                <c:pt idx="2">
                  <c:v>25032.5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D7-4771-AAC9-1D4FFB26F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0570288"/>
        <c:axId val="1220571248"/>
      </c:lineChart>
      <c:catAx>
        <c:axId val="1220570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20571248"/>
        <c:crosses val="autoZero"/>
        <c:auto val="1"/>
        <c:lblAlgn val="ctr"/>
        <c:lblOffset val="100"/>
        <c:noMultiLvlLbl val="0"/>
      </c:catAx>
      <c:valAx>
        <c:axId val="122057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20570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/>
              <a:t>Territory Allocation Impact on Sales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'No of cte products handled by e'!$F$1</c:f>
              <c:strCache>
                <c:ptCount val="1"/>
                <c:pt idx="0">
                  <c:v>Territories_Assigned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CC5-4691-8E0A-11C4FF9BB32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C5-4691-8E0A-11C4FF9BB32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CC5-4691-8E0A-11C4FF9BB32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CC5-4691-8E0A-11C4FF9BB32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CC5-4691-8E0A-11C4FF9BB32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CC5-4691-8E0A-11C4FF9BB32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CC5-4691-8E0A-11C4FF9BB322}"/>
              </c:ext>
            </c:extLst>
          </c:dPt>
          <c:xVal>
            <c:numRef>
              <c:f>'No of cte products handled by e'!$E$2:$E$8</c:f>
              <c:numCache>
                <c:formatCode>General</c:formatCode>
                <c:ptCount val="7"/>
                <c:pt idx="0">
                  <c:v>23978.5</c:v>
                </c:pt>
                <c:pt idx="1">
                  <c:v>26086.5</c:v>
                </c:pt>
                <c:pt idx="2">
                  <c:v>25559.5</c:v>
                </c:pt>
                <c:pt idx="3">
                  <c:v>30039</c:v>
                </c:pt>
                <c:pt idx="4">
                  <c:v>8432</c:v>
                </c:pt>
                <c:pt idx="5">
                  <c:v>20869.2</c:v>
                </c:pt>
                <c:pt idx="6">
                  <c:v>15019.5</c:v>
                </c:pt>
              </c:numCache>
            </c:numRef>
          </c:xVal>
          <c:yVal>
            <c:numRef>
              <c:f>'No of cte products handled by e'!$F$2:$F$8</c:f>
              <c:numCache>
                <c:formatCode>General</c:formatCode>
                <c:ptCount val="7"/>
                <c:pt idx="0">
                  <c:v>2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7</c:v>
                </c:pt>
                <c:pt idx="5">
                  <c:v>10</c:v>
                </c:pt>
                <c:pt idx="6">
                  <c:v>7</c:v>
                </c:pt>
              </c:numCache>
            </c:numRef>
          </c:yVal>
          <c:bubbleSize>
            <c:numLit>
              <c:formatCode>General</c:formatCode>
              <c:ptCount val="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E-0CC5-4691-8E0A-11C4FF9BB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956037887"/>
        <c:axId val="956038367"/>
      </c:bubbleChart>
      <c:valAx>
        <c:axId val="9560378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56038367"/>
        <c:crosses val="autoZero"/>
        <c:crossBetween val="midCat"/>
      </c:valAx>
      <c:valAx>
        <c:axId val="956038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No, of Territories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560378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[CROSS Selling product.xlsx]Sheet1!PivotTable1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Compnion Product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Sheet1!$A$4:$A$17</c:f>
              <c:strCache>
                <c:ptCount val="13"/>
                <c:pt idx="0">
                  <c:v>Flotemysost</c:v>
                </c:pt>
                <c:pt idx="1">
                  <c:v>Gnocchi di nonna Alice</c:v>
                </c:pt>
                <c:pt idx="2">
                  <c:v>Guaran Fantstica</c:v>
                </c:pt>
                <c:pt idx="3">
                  <c:v>Gula Malacca</c:v>
                </c:pt>
                <c:pt idx="4">
                  <c:v>Gumbr Gummibrchen</c:v>
                </c:pt>
                <c:pt idx="5">
                  <c:v>Louisiana Fiery Hot Pepper Sauce</c:v>
                </c:pt>
                <c:pt idx="6">
                  <c:v>Queso Cabrales</c:v>
                </c:pt>
                <c:pt idx="7">
                  <c:v>Raclette Courdavault</c:v>
                </c:pt>
                <c:pt idx="8">
                  <c:v>Scottish Longbreads</c:v>
                </c:pt>
                <c:pt idx="9">
                  <c:v>Sir Rodney's Marmalade</c:v>
                </c:pt>
                <c:pt idx="10">
                  <c:v>Steeleye Stout</c:v>
                </c:pt>
                <c:pt idx="11">
                  <c:v>Tarte au sucre</c:v>
                </c:pt>
                <c:pt idx="12">
                  <c:v>Teatime Chocolate Biscuits</c:v>
                </c:pt>
              </c:strCache>
            </c:strRef>
          </c:cat>
          <c:val>
            <c:numRef>
              <c:f>Sheet1!$B$4:$B$17</c:f>
              <c:numCache>
                <c:formatCode>General</c:formatCode>
                <c:ptCount val="13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8-4235-8EFA-623E1D5726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6873504"/>
        <c:axId val="316875904"/>
      </c:barChart>
      <c:catAx>
        <c:axId val="31687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316875904"/>
        <c:crosses val="autoZero"/>
        <c:auto val="1"/>
        <c:lblAlgn val="ctr"/>
        <c:lblOffset val="100"/>
        <c:noMultiLvlLbl val="0"/>
      </c:catAx>
      <c:valAx>
        <c:axId val="31687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31687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0.41664</cdr:x>
      <cdr:y>0.39225</cdr:y>
    </cdr:from>
    <cdr:to>
      <cdr:x>0.50905</cdr:x>
      <cdr:y>0.43463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D0FEC03-6C5A-27FC-0F44-02B967B4BECF}"/>
            </a:ext>
          </a:extLst>
        </cdr:cNvPr>
        <cdr:cNvSpPr txBox="1"/>
      </cdr:nvSpPr>
      <cdr:spPr>
        <a:xfrm xmlns:a="http://schemas.openxmlformats.org/drawingml/2006/main">
          <a:off x="2350008" y="1692846"/>
          <a:ext cx="521208" cy="18288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0.56417</cdr:x>
      <cdr:y>0.19309</cdr:y>
    </cdr:from>
    <cdr:to>
      <cdr:x>0.66657</cdr:x>
      <cdr:y>0.2397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7727439C-2445-1D86-527C-5F0A067C941B}"/>
            </a:ext>
          </a:extLst>
        </cdr:cNvPr>
        <cdr:cNvSpPr txBox="1"/>
      </cdr:nvSpPr>
      <cdr:spPr>
        <a:xfrm xmlns:a="http://schemas.openxmlformats.org/drawingml/2006/main">
          <a:off x="3182112" y="833310"/>
          <a:ext cx="577599" cy="20116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0.25777</cdr:x>
      <cdr:y>0.39013</cdr:y>
    </cdr:from>
    <cdr:to>
      <cdr:x>0.34369</cdr:x>
      <cdr:y>0.43463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987136A5-D588-0100-CED6-46801A568615}"/>
            </a:ext>
          </a:extLst>
        </cdr:cNvPr>
        <cdr:cNvSpPr txBox="1"/>
      </cdr:nvSpPr>
      <cdr:spPr>
        <a:xfrm xmlns:a="http://schemas.openxmlformats.org/drawingml/2006/main">
          <a:off x="1453896" y="1683702"/>
          <a:ext cx="484632" cy="1920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0.41651</cdr:x>
      <cdr:y>0.39225</cdr:y>
    </cdr:from>
    <cdr:to>
      <cdr:x>0.53648</cdr:x>
      <cdr:y>0.43675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CF45252A-8F58-857E-6D83-E830293A3D63}"/>
            </a:ext>
          </a:extLst>
        </cdr:cNvPr>
        <cdr:cNvSpPr txBox="1"/>
      </cdr:nvSpPr>
      <cdr:spPr>
        <a:xfrm xmlns:a="http://schemas.openxmlformats.org/drawingml/2006/main">
          <a:off x="2349278" y="1692846"/>
          <a:ext cx="676656" cy="1920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Anne</a:t>
          </a:r>
          <a:endParaRPr lang="en-PK" sz="1100" kern="1200" dirty="0"/>
        </a:p>
      </cdr:txBody>
    </cdr:sp>
  </cdr:relSizeAnchor>
  <cdr:relSizeAnchor xmlns:cdr="http://schemas.openxmlformats.org/drawingml/2006/chartDrawing">
    <cdr:from>
      <cdr:x>0.55282</cdr:x>
      <cdr:y>0.20368</cdr:y>
    </cdr:from>
    <cdr:to>
      <cdr:x>0.66657</cdr:x>
      <cdr:y>0.25241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77754C68-D097-FF7C-E185-E9E366371835}"/>
            </a:ext>
          </a:extLst>
        </cdr:cNvPr>
        <cdr:cNvSpPr txBox="1"/>
      </cdr:nvSpPr>
      <cdr:spPr>
        <a:xfrm xmlns:a="http://schemas.openxmlformats.org/drawingml/2006/main">
          <a:off x="3118104" y="879030"/>
          <a:ext cx="641607" cy="21031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Robert</a:t>
          </a:r>
          <a:endParaRPr lang="en-PK" sz="1100" kern="1200" dirty="0"/>
        </a:p>
      </cdr:txBody>
    </cdr:sp>
  </cdr:relSizeAnchor>
  <cdr:relSizeAnchor xmlns:cdr="http://schemas.openxmlformats.org/drawingml/2006/chartDrawing">
    <cdr:from>
      <cdr:x>0.78789</cdr:x>
      <cdr:y>0.65468</cdr:y>
    </cdr:from>
    <cdr:to>
      <cdr:x>0.8884</cdr:x>
      <cdr:y>0.691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C3F5F7EE-79EC-E67F-6B87-77108D006F08}"/>
            </a:ext>
          </a:extLst>
        </cdr:cNvPr>
        <cdr:cNvSpPr txBox="1"/>
      </cdr:nvSpPr>
      <cdr:spPr>
        <a:xfrm xmlns:a="http://schemas.openxmlformats.org/drawingml/2006/main">
          <a:off x="4443984" y="2825418"/>
          <a:ext cx="566928" cy="1567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0.25614</cdr:x>
      <cdr:y>0.39225</cdr:y>
    </cdr:from>
    <cdr:to>
      <cdr:x>0.368</cdr:x>
      <cdr:y>0.43463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1A25B76F-20FB-A743-B543-866677E12BFE}"/>
            </a:ext>
          </a:extLst>
        </cdr:cNvPr>
        <cdr:cNvSpPr txBox="1"/>
      </cdr:nvSpPr>
      <cdr:spPr>
        <a:xfrm xmlns:a="http://schemas.openxmlformats.org/drawingml/2006/main">
          <a:off x="1444752" y="1692846"/>
          <a:ext cx="630936" cy="18288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0.68413</cdr:x>
      <cdr:y>0.3859</cdr:y>
    </cdr:from>
    <cdr:to>
      <cdr:x>0.78167</cdr:x>
      <cdr:y>0.43463</cdr:y>
    </cdr:to>
    <cdr:sp macro="" textlink="">
      <cdr:nvSpPr>
        <cdr:cNvPr id="10" name="TextBox 9">
          <a:extLst xmlns:a="http://schemas.openxmlformats.org/drawingml/2006/main">
            <a:ext uri="{FF2B5EF4-FFF2-40B4-BE49-F238E27FC236}">
              <a16:creationId xmlns:a16="http://schemas.microsoft.com/office/drawing/2014/main" id="{1B56C4E5-0C8C-5A63-7C87-9074F37ED81C}"/>
            </a:ext>
          </a:extLst>
        </cdr:cNvPr>
        <cdr:cNvSpPr txBox="1"/>
      </cdr:nvSpPr>
      <cdr:spPr>
        <a:xfrm xmlns:a="http://schemas.openxmlformats.org/drawingml/2006/main">
          <a:off x="3858768" y="1665414"/>
          <a:ext cx="550164" cy="21031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0.62739</cdr:x>
      <cdr:y>0.72066</cdr:y>
    </cdr:from>
    <cdr:to>
      <cdr:x>0.73601</cdr:x>
      <cdr:y>0.76515</cdr:y>
    </cdr:to>
    <cdr:sp macro="" textlink="">
      <cdr:nvSpPr>
        <cdr:cNvPr id="11" name="TextBox 10">
          <a:extLst xmlns:a="http://schemas.openxmlformats.org/drawingml/2006/main">
            <a:ext uri="{FF2B5EF4-FFF2-40B4-BE49-F238E27FC236}">
              <a16:creationId xmlns:a16="http://schemas.microsoft.com/office/drawing/2014/main" id="{2E7F9947-E5A8-2560-25A8-E02AF29F1CBC}"/>
            </a:ext>
          </a:extLst>
        </cdr:cNvPr>
        <cdr:cNvSpPr txBox="1"/>
      </cdr:nvSpPr>
      <cdr:spPr>
        <a:xfrm xmlns:a="http://schemas.openxmlformats.org/drawingml/2006/main">
          <a:off x="3538728" y="3110166"/>
          <a:ext cx="612648" cy="1920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0.76462</cdr:x>
      <cdr:y>0.62494</cdr:y>
    </cdr:from>
    <cdr:to>
      <cdr:x>0.9157</cdr:x>
      <cdr:y>0.68854</cdr:y>
    </cdr:to>
    <cdr:sp macro="" textlink="">
      <cdr:nvSpPr>
        <cdr:cNvPr id="12" name="TextBox 11">
          <a:extLst xmlns:a="http://schemas.openxmlformats.org/drawingml/2006/main">
            <a:ext uri="{FF2B5EF4-FFF2-40B4-BE49-F238E27FC236}">
              <a16:creationId xmlns:a16="http://schemas.microsoft.com/office/drawing/2014/main" id="{F83C4E45-3D36-B689-9F55-D340F62FAFD4}"/>
            </a:ext>
          </a:extLst>
        </cdr:cNvPr>
        <cdr:cNvSpPr txBox="1"/>
      </cdr:nvSpPr>
      <cdr:spPr>
        <a:xfrm xmlns:a="http://schemas.openxmlformats.org/drawingml/2006/main">
          <a:off x="4099396" y="2478885"/>
          <a:ext cx="809992" cy="25225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Margaret</a:t>
          </a:r>
          <a:endParaRPr lang="en-PK" sz="1100" kern="1200" dirty="0"/>
        </a:p>
      </cdr:txBody>
    </cdr:sp>
  </cdr:relSizeAnchor>
  <cdr:relSizeAnchor xmlns:cdr="http://schemas.openxmlformats.org/drawingml/2006/chartDrawing">
    <cdr:from>
      <cdr:x>0.66657</cdr:x>
      <cdr:y>0.93042</cdr:y>
    </cdr:from>
    <cdr:to>
      <cdr:x>0.82869</cdr:x>
      <cdr:y>0.97915</cdr:y>
    </cdr:to>
    <cdr:sp macro="" textlink="">
      <cdr:nvSpPr>
        <cdr:cNvPr id="13" name="TextBox 12">
          <a:extLst xmlns:a="http://schemas.openxmlformats.org/drawingml/2006/main">
            <a:ext uri="{FF2B5EF4-FFF2-40B4-BE49-F238E27FC236}">
              <a16:creationId xmlns:a16="http://schemas.microsoft.com/office/drawing/2014/main" id="{BE63AB70-7337-0268-4CC0-72451CD86ADF}"/>
            </a:ext>
          </a:extLst>
        </cdr:cNvPr>
        <cdr:cNvSpPr txBox="1"/>
      </cdr:nvSpPr>
      <cdr:spPr>
        <a:xfrm xmlns:a="http://schemas.openxmlformats.org/drawingml/2006/main">
          <a:off x="3759711" y="4015422"/>
          <a:ext cx="914400" cy="21031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PK" sz="1100" kern="1200" dirty="0"/>
        </a:p>
      </cdr:txBody>
    </cdr:sp>
  </cdr:relSizeAnchor>
  <cdr:relSizeAnchor xmlns:cdr="http://schemas.openxmlformats.org/drawingml/2006/chartDrawing">
    <cdr:from>
      <cdr:x>0.63063</cdr:x>
      <cdr:y>0.71098</cdr:y>
    </cdr:from>
    <cdr:to>
      <cdr:x>0.76462</cdr:x>
      <cdr:y>0.75827</cdr:y>
    </cdr:to>
    <cdr:sp macro="" textlink="">
      <cdr:nvSpPr>
        <cdr:cNvPr id="14" name="TextBox 13">
          <a:extLst xmlns:a="http://schemas.openxmlformats.org/drawingml/2006/main">
            <a:ext uri="{FF2B5EF4-FFF2-40B4-BE49-F238E27FC236}">
              <a16:creationId xmlns:a16="http://schemas.microsoft.com/office/drawing/2014/main" id="{4A14F0BC-583C-2A5C-B9BD-889012F9898F}"/>
            </a:ext>
          </a:extLst>
        </cdr:cNvPr>
        <cdr:cNvSpPr txBox="1"/>
      </cdr:nvSpPr>
      <cdr:spPr>
        <a:xfrm xmlns:a="http://schemas.openxmlformats.org/drawingml/2006/main">
          <a:off x="3381028" y="2820174"/>
          <a:ext cx="718368" cy="1875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Nancy</a:t>
          </a:r>
          <a:endParaRPr lang="en-PK" sz="1100" kern="1200" dirty="0"/>
        </a:p>
      </cdr:txBody>
    </cdr:sp>
  </cdr:relSizeAnchor>
  <cdr:relSizeAnchor xmlns:cdr="http://schemas.openxmlformats.org/drawingml/2006/chartDrawing">
    <cdr:from>
      <cdr:x>0.68662</cdr:x>
      <cdr:y>0.39012</cdr:y>
    </cdr:from>
    <cdr:to>
      <cdr:x>0.83328</cdr:x>
      <cdr:y>0.45571</cdr:y>
    </cdr:to>
    <cdr:sp macro="" textlink="">
      <cdr:nvSpPr>
        <cdr:cNvPr id="15" name="TextBox 14">
          <a:extLst xmlns:a="http://schemas.openxmlformats.org/drawingml/2006/main">
            <a:ext uri="{FF2B5EF4-FFF2-40B4-BE49-F238E27FC236}">
              <a16:creationId xmlns:a16="http://schemas.microsoft.com/office/drawing/2014/main" id="{6C557141-5B4C-39B0-8818-BE564E533915}"/>
            </a:ext>
          </a:extLst>
        </cdr:cNvPr>
        <cdr:cNvSpPr txBox="1"/>
      </cdr:nvSpPr>
      <cdr:spPr>
        <a:xfrm xmlns:a="http://schemas.openxmlformats.org/drawingml/2006/main">
          <a:off x="3681209" y="1547449"/>
          <a:ext cx="786276" cy="26015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Andrew</a:t>
          </a:r>
          <a:endParaRPr lang="en-PK" sz="1100" kern="1200" dirty="0"/>
        </a:p>
      </cdr:txBody>
    </cdr:sp>
  </cdr:relSizeAnchor>
  <cdr:relSizeAnchor xmlns:cdr="http://schemas.openxmlformats.org/drawingml/2006/chartDrawing">
    <cdr:from>
      <cdr:x>0.25614</cdr:x>
      <cdr:y>0.38681</cdr:y>
    </cdr:from>
    <cdr:to>
      <cdr:x>0.39107</cdr:x>
      <cdr:y>0.43726</cdr:y>
    </cdr:to>
    <cdr:sp macro="" textlink="">
      <cdr:nvSpPr>
        <cdr:cNvPr id="16" name="TextBox 15">
          <a:extLst xmlns:a="http://schemas.openxmlformats.org/drawingml/2006/main">
            <a:ext uri="{FF2B5EF4-FFF2-40B4-BE49-F238E27FC236}">
              <a16:creationId xmlns:a16="http://schemas.microsoft.com/office/drawing/2014/main" id="{8305D932-207E-1E2C-3CD0-280E5B427144}"/>
            </a:ext>
          </a:extLst>
        </cdr:cNvPr>
        <cdr:cNvSpPr txBox="1"/>
      </cdr:nvSpPr>
      <cdr:spPr>
        <a:xfrm xmlns:a="http://schemas.openxmlformats.org/drawingml/2006/main">
          <a:off x="1373256" y="1534321"/>
          <a:ext cx="723400" cy="2001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kern="1200" dirty="0"/>
            <a:t>Steven</a:t>
          </a:r>
          <a:endParaRPr lang="en-PK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DA501-977B-488A-AB4C-A0892A70B0FF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EE08B-E0D2-4BA7-88B3-FD69B3C073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835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B7D4-2B3A-D884-FF32-BE73CA9DE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787A1-E686-0775-95C3-8C9769303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56CD6-5EAF-E6CA-362A-205473AF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E8E62-617F-1169-62F4-BAEA14CB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34AF2-0471-2F0D-1B6F-79137392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109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D080-F335-30B9-A3F9-FB52851C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C90D-5047-A72E-E929-C958F4FE7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8BD2-29D4-63EE-0338-E535028E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54E29-82DE-2EE4-524B-4D77A3EF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3AC33-343B-0B20-BEE8-944006C2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468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F2B2-04B8-E892-1AA3-06F0B214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2D7AB-A40A-E27B-05E1-34F6057F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9E4E7-73ED-1030-A1B3-C3B4034F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77BBF-1E36-C403-C87D-57F1AB95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3AB7-FB4D-5E83-E111-F57300EB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651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AE40-878C-6D1A-2BBE-51E1D3C3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BBACF-5182-91FE-327A-3473AB061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8C7A0-03A3-4C60-195D-E90EB86BF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084B0-9A8D-C2F4-D776-86D390F3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7903E-7476-FAEA-7403-9A73BF42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C6694-E8B0-9AC8-BC2C-1E69BA6A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355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274-77F7-61E8-15FC-571868A8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1F15-3F50-D4B2-04A1-0583FA07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BD401-9918-5869-2DA1-39EE0333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BF9A0-B87B-DA42-633F-1FD347219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0C6A1-0472-15FE-6D96-5CDDF34F2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2F2B2-B5E0-2ADE-C875-009EB073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46C52-1041-7CD2-AC5B-A772D486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D8A42-01E8-1F70-F3E6-4F8A642E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173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242B-DF96-CFCD-FCA6-37506D68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A5D24-C760-1EDD-F085-DF3A1083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5A8D0-82C2-5980-A691-8D2E3324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1DBBD-2E8C-CE84-F786-A450DA5B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071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A7FC8-462E-DB3A-6018-257E8836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3ABB5-227F-0992-A132-AF898F14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5B137-832A-F1ED-63BE-3415DEC6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353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FE08-7692-971E-2ED7-1C94CBF5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EDB1-A89C-FD76-A537-9A5C322B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6AAC-CEFF-6CB5-83FC-3F6713A46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09548-9971-9CB4-AE5B-F19C13D8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D59D0-3B46-2CB2-000C-67AD3B69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9CFAF-AFE5-DBF0-B3C9-15BBD592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62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6974-0D4A-7D52-2041-BAA78F21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09861-1D69-CDF6-FB47-40C5B480D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124DF-C026-E5A1-4251-C9F88C6A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1BEE2-D8C3-D17F-B847-25F84C78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D6703-D29B-B617-E9D2-D8D9952F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7D2E9-95E7-AEE7-4250-623E219A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963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56D4-B7EB-D29A-1736-75746613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D37AD-A239-078B-DCAD-26D8DB66F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EF5FB-2FE4-BE52-C66E-F506253E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0096A-9957-BCA0-025D-503CFE4F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4C37E-43C6-AD6A-A093-D5902294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8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2CCC4-F3C0-9227-726D-29360060F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8D02C-EF89-AFA8-74F3-A82846DB5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F4DAE-8F62-CCF5-250A-2BA1070F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33D1-48DE-E3FF-460A-98B091B5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85A7-D09B-EB1E-ACD5-F7337A1D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0714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1442-D670-DAEC-D42C-AC82E41B5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9BCA5-FA82-EF9A-0A59-F84039490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E7AC1-FEB9-E4DD-13E5-4027E750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0A39F-F57C-EED4-E319-0932118D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FABCE-5ECA-0B60-E17D-5DC1A2C3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74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ABD9-206B-F0D8-E0B1-90CC5B7A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4275-19BB-AD10-D109-2858A520B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0C8B9-DC47-0788-EAE9-E02844A1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19E9D-C94C-0942-85F8-1D6C9D37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A142C-8536-63D8-F478-47B3CA46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2621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DCA1-4090-1ED5-4EC0-8F355210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F06-8B84-CCF4-13C3-C37451E5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FAAC-E6C3-0BDC-E64A-AE2D353B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4FA8A-F2F7-E2EC-A0E4-22311448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B61B6-FB08-ECAF-D091-D37F0309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6443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364E-7CF3-A913-2826-2FC698DE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150B-1713-A4A3-AD35-A367CC7E8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BFEE0-E5A6-B9E9-80E4-4BC3EB2F7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E5960-F735-D4E5-9B04-F053968B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3CBD2-CA93-D8C2-76AE-4FCF78D8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686B8-0E1A-CF4E-FB0E-7763840C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76224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B5C6-03F0-5256-A619-ACC91B7A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F7C0A-AABF-6087-C1B0-15F5822EC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76C47-6CCC-FF6B-E0E5-A0DD667BA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CAE7B-5CDE-7E33-3CE4-E494EE091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EC4E6-A21F-8760-5D6A-ED6563B24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445AF-5757-6DF0-3367-CC33FA87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6504C1-9E67-E40D-F397-B2483AE5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33482-A28E-E924-A0F5-A63B2AF4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7848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B655-6A55-6E5F-481C-D9BD2C55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8D875-B5C0-6A6F-CAB3-673A34E2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4AF27-05A8-7530-B528-E41BD584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B4163-6D31-A30B-0B9B-6D719847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78192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B8A1A-4C52-21D4-6634-40A63DC6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5738B-9F9E-F7E2-8736-3000CD23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43A6-09A5-CD19-3476-089AD7AF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7701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34-F7A4-B2A1-C11C-521EA8DA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A0EE-C8AC-8B49-6500-CF87D9AC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56A5D-5353-5417-1D6C-500C1B2E7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586A9-5593-C78E-0474-C13EFDE3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6EBFF-6270-4C02-2A79-7037C14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EECDD-65ED-959D-2246-737AF707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86035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C73F-2D5B-EA62-3A24-B991B376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EE904-9B55-2FAE-9BE7-856F85AF4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FF2D-5DE5-F03D-B1B6-4FA02D82A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2A7A3-C730-CC2E-1594-F4072B37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F1C73-2EF0-6DE0-3917-F058A4F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3F547-F8D1-0654-AF8C-F19227FA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2583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0D6E-BD31-3B54-286D-7FE15B97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822B-1423-14EE-EFD5-5ACB422C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13B11-DA9D-3F2B-213D-7896428A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ADC4-BAB5-08CA-AEF5-BF16CCE1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EDE4-DDC5-8F62-2DFE-C9139784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28080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B0DC7-1F48-3411-51F1-F84937227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AF28E-CEC3-20B7-6B67-6F5D7213C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FBE4-89A8-AA44-F227-18AC5C5D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B6E12-ABE3-CE40-D621-EE730285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95C1F-53A3-90F6-CD42-4BE9AB87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984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2FCEE-C9AE-99E1-409F-2143801C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97C95-97E5-74CD-CD67-2F5AD569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46FC6-E052-2E20-C068-6C7540072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D89F3-4E3E-4B93-B779-3F0417EFBABA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50CE3-8F1B-39E1-0509-ED45748C3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BBBD-C872-871D-A254-80BF9A95E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42082-0B49-4D6E-A7CF-59D68BD2E0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962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FF0CC7-8E12-FCC0-BE48-1DAE39E1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A6BD0-0211-6814-6336-D4FFFFB23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99D6-7577-1491-457B-ECFB8A9E8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DF1A6-2283-4FB1-A783-BF4A8D5F4F83}" type="datetimeFigureOut">
              <a:rPr lang="en-PK" smtClean="0"/>
              <a:t>25/09/2025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1810-0059-D040-D0D2-1C71EDD02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89D6D-393C-02F5-45FA-190FC671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F3C52-3E64-4505-ACAE-8CD02B27BE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382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EDC53-5452-64AB-D688-D42668C52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658369"/>
            <a:ext cx="6144768" cy="256249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Product: CTE de Blaye Sales Analysis using Northwind Dataset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/>
              <a:t>Key insights, trends, and growth opportunities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B6703-3E86-33FC-FEDD-B9D851C74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541263"/>
            <a:ext cx="6254496" cy="1395022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CTE de Blaye is our top-selling product. Let’s see where it performs, why, and how we can grow sales further.</a:t>
            </a:r>
            <a:endParaRPr lang="en-PK" dirty="0">
              <a:solidFill>
                <a:schemeClr val="bg1"/>
              </a:solidFill>
            </a:endParaRPr>
          </a:p>
        </p:txBody>
      </p:sp>
      <p:pic>
        <p:nvPicPr>
          <p:cNvPr id="5" name="Picture 4" descr="A computer on a desk&#10;&#10;AI-generated content may be incorrect.">
            <a:extLst>
              <a:ext uri="{FF2B5EF4-FFF2-40B4-BE49-F238E27FC236}">
                <a16:creationId xmlns:a16="http://schemas.microsoft.com/office/drawing/2014/main" id="{FFCEB8AD-F6D2-CA4E-48F6-21A1EBC28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435"/>
          <a:stretch>
            <a:fillRect/>
          </a:stretch>
        </p:blipFill>
        <p:spPr>
          <a:xfrm>
            <a:off x="6734783" y="463404"/>
            <a:ext cx="4841270" cy="5553193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1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8C728-E461-DC7B-3F90-AD8650CF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Northwind Trading Company</a:t>
            </a:r>
            <a:endParaRPr lang="en-PK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5C6B-F64A-4CF3-7467-6F41EC5C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Sample database for </a:t>
            </a:r>
            <a:r>
              <a:rPr lang="en-US" sz="2000" b="1" dirty="0"/>
              <a:t>sales and business analysis</a:t>
            </a:r>
            <a:r>
              <a:rPr lang="en-US" sz="2000" dirty="0"/>
              <a:t>, representing a fictitious trading company.</a:t>
            </a:r>
          </a:p>
          <a:p>
            <a:r>
              <a:rPr lang="en-US" sz="2000" dirty="0"/>
              <a:t>Northwind Traders buys specialty foods from suppliers and sells them in bulk to customers (other businesses)</a:t>
            </a:r>
          </a:p>
          <a:p>
            <a:r>
              <a:rPr lang="en-US" sz="2000" dirty="0"/>
              <a:t>Covers </a:t>
            </a:r>
            <a:r>
              <a:rPr lang="en-US" sz="2000" b="1" dirty="0"/>
              <a:t>customers, suppliers, products, orders, order details, and employees</a:t>
            </a:r>
            <a:r>
              <a:rPr lang="en-US" sz="2000" dirty="0"/>
              <a:t>.</a:t>
            </a:r>
          </a:p>
          <a:p>
            <a:r>
              <a:rPr lang="en-US" sz="2000" dirty="0"/>
              <a:t>Useful for </a:t>
            </a:r>
            <a:r>
              <a:rPr lang="en-US" sz="2000" b="1" dirty="0"/>
              <a:t>analyzing sales trends, customer behavior, inventory, and supplier performance</a:t>
            </a:r>
            <a:r>
              <a:rPr lang="en-US" sz="2000" dirty="0"/>
              <a:t>.</a:t>
            </a:r>
            <a:endParaRPr lang="en-US" sz="2000" b="1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88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relationship diagram">
            <a:extLst>
              <a:ext uri="{FF2B5EF4-FFF2-40B4-BE49-F238E27FC236}">
                <a16:creationId xmlns:a16="http://schemas.microsoft.com/office/drawing/2014/main" id="{2A0DD41B-2727-8B2A-A777-E64A9C01F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009" y="76337"/>
            <a:ext cx="7315200" cy="654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9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AC88B-4B59-8947-3F95-EBD3BA5F6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r>
              <a:rPr lang="en-PK">
                <a:solidFill>
                  <a:srgbClr val="FFFFFF"/>
                </a:solidFill>
              </a:rPr>
              <a:t>⚠️</a:t>
            </a: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 </a:t>
            </a:r>
            <a:r>
              <a:rPr lang="en-PK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endParaRPr lang="en-PK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7491-2E8E-D158-7275-3C13DD24F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CTE de Blaye is a top-selling product, but there is limited visibility into its performance across countries, territories, and customer segments.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insights into seasonal sales trends, cross-selling opportunities, and employee contribution to revenue.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deeper understanding, growth opportunities may be missed, and resources may not be allocated efficiently.</a:t>
            </a:r>
            <a:endParaRPr lang="en-PK" sz="2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48D32-91FF-0009-0349-4CBFB3349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 of CTE de Blaye across products, countries, and territories.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customers, seasonal trends, and cross-selling opportunities to maximize revenue.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employee performance and provide actionable recommendations for strategic decision-making.</a:t>
            </a:r>
            <a:endParaRPr lang="en-PK" sz="2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114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11624-C559-640C-200F-787D89E9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A15E4-FB6A-749A-FBF7-DE46B1DA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6397878" cy="1642969"/>
          </a:xfrm>
        </p:spPr>
        <p:txBody>
          <a:bodyPr anchor="b">
            <a:normAutofit/>
          </a:bodyPr>
          <a:lstStyle/>
          <a:p>
            <a:r>
              <a:rPr lang="en-US" sz="3700" b="1" dirty="0"/>
              <a:t>Top 5 Product Generating Revenue</a:t>
            </a:r>
            <a:endParaRPr lang="en-PK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C7D7F-4E51-C6BB-D458-89E85567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  <a:p>
            <a:pPr marL="285750">
              <a:spcAft>
                <a:spcPts val="600"/>
              </a:spcAft>
            </a:pPr>
            <a:r>
              <a:rPr lang="en-US" sz="2000" dirty="0"/>
              <a:t>Top 3 Categories: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Cte de Blaye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</a:t>
            </a:r>
            <a:r>
              <a:rPr lang="en-US" sz="2000" dirty="0" err="1"/>
              <a:t>Thringer</a:t>
            </a:r>
            <a:r>
              <a:rPr lang="en-US" sz="2000" dirty="0"/>
              <a:t> </a:t>
            </a:r>
            <a:r>
              <a:rPr lang="en-US" sz="2000" dirty="0" err="1"/>
              <a:t>Rostbratwurst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Raclette </a:t>
            </a:r>
            <a:r>
              <a:rPr lang="en-US" sz="2000" dirty="0" err="1"/>
              <a:t>Courdavult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/>
              <a:t>CTE de Blaye contributing 11% of total revenue while 2</a:t>
            </a:r>
            <a:r>
              <a:rPr lang="en-US" sz="2000" baseline="30000" dirty="0"/>
              <a:t>nd</a:t>
            </a:r>
            <a:r>
              <a:rPr lang="en-US" sz="2000" dirty="0"/>
              <a:t> product contributes 6.48%.</a:t>
            </a:r>
          </a:p>
          <a:p>
            <a:endParaRPr lang="en-P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3489B-CA3F-5808-A204-FD322CDF9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889359"/>
            <a:ext cx="5201023" cy="266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D6731-D759-B203-8E9D-A633CF83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Sales show a steady upward trend year over year, reflecting growing demand</a:t>
            </a:r>
            <a:endParaRPr lang="en-US" sz="2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DA86C-EB28-7A67-202E-B53700C21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Temporal Sales Trend</a:t>
            </a:r>
            <a:endParaRPr lang="en-US" sz="32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2E11A4-F65F-CC73-39D9-E1F2DED04B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243211"/>
            <a:ext cx="7225748" cy="437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89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6" name="Rectangle 207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73" name="Rectangle 207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8" name="Rectangle 2077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2B62F5-DD3C-480A-23CD-60B33663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Quarter &amp; Monthly Sales Trend – Cte de Blaye</a:t>
            </a:r>
          </a:p>
        </p:txBody>
      </p:sp>
      <p:pic>
        <p:nvPicPr>
          <p:cNvPr id="2050" name="Picture 2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53E63B15-94B1-18CB-173E-16C0FDCE61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4574" y="2050595"/>
            <a:ext cx="4362275" cy="261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8C95CAB-4612-A5FF-01EA-A4168DC45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7671" y="2050596"/>
            <a:ext cx="4498300" cy="261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E3F9D-02BD-3512-A8BE-D95294F54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598" y="5070346"/>
            <a:ext cx="9496427" cy="138526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Peaks (Q4–Q1): Boost campaigns during holidays &amp; winter when demand is highest.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Mid-Year Dip: Introduce summer-friendly pairings / limited editions to smooth seasonality.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Optimize Distribution: Ensure high availability in peak months, manage leaner stock in off-season.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10440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E8FCA-F0B6-DC54-E630-EF939823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863" y="629930"/>
            <a:ext cx="5456427" cy="1158549"/>
          </a:xfrm>
        </p:spPr>
        <p:txBody>
          <a:bodyPr anchor="b">
            <a:normAutofit fontScale="90000"/>
          </a:bodyPr>
          <a:lstStyle/>
          <a:p>
            <a:r>
              <a:rPr lang="en-US" sz="3700" b="1" dirty="0"/>
              <a:t>Geographic Performance</a:t>
            </a:r>
            <a:br>
              <a:rPr lang="en-US" sz="3700" dirty="0"/>
            </a:br>
            <a:r>
              <a:rPr lang="en-US" sz="3700" dirty="0"/>
              <a:t> </a:t>
            </a:r>
            <a:r>
              <a:rPr lang="en-US" sz="2800" dirty="0"/>
              <a:t>Revenue by Country for Cte de Blaye</a:t>
            </a: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9B671-1099-D333-6C47-90B2BB51B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342900" indent="-342900">
              <a:spcAft>
                <a:spcPts val="600"/>
              </a:spcAft>
            </a:pPr>
            <a:r>
              <a:rPr lang="en-US" sz="2000" dirty="0"/>
              <a:t>Top Revenue Contributors: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USA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Germany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Brazil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	Austria</a:t>
            </a:r>
          </a:p>
          <a:p>
            <a:pPr marL="342900" indent="-342900">
              <a:spcAft>
                <a:spcPts val="600"/>
              </a:spcAft>
            </a:pPr>
            <a:r>
              <a:rPr lang="en-US" sz="2000" dirty="0"/>
              <a:t>Some countries with lower sales may represent untapped market potential.</a:t>
            </a:r>
          </a:p>
          <a:p>
            <a:endParaRPr lang="en-PK" sz="2000" dirty="0"/>
          </a:p>
        </p:txBody>
      </p:sp>
      <p:pic>
        <p:nvPicPr>
          <p:cNvPr id="4" name="Picture 2" descr="A graph of a country revenue&#10;&#10;AI-generated content may be incorrect.">
            <a:extLst>
              <a:ext uri="{FF2B5EF4-FFF2-40B4-BE49-F238E27FC236}">
                <a16:creationId xmlns:a16="http://schemas.microsoft.com/office/drawing/2014/main" id="{61B19F73-F655-40E4-FADD-0AEA8EA91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661815"/>
            <a:ext cx="5201023" cy="312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123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3368C-9E64-0FF1-60FA-07BD316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8" y="1002795"/>
            <a:ext cx="4373118" cy="456774"/>
          </a:xfrm>
        </p:spPr>
        <p:txBody>
          <a:bodyPr anchor="b">
            <a:normAutofit fontScale="90000"/>
          </a:bodyPr>
          <a:lstStyle/>
          <a:p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</a:t>
            </a:r>
            <a:r>
              <a:rPr lang="en-US" sz="3100" dirty="0"/>
              <a:t>Country Behavior Over Time</a:t>
            </a:r>
            <a:endParaRPr lang="en-PK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E5CD-17DB-2500-83F2-F7AA9DE4B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903" y="4759662"/>
            <a:ext cx="4916107" cy="1042417"/>
          </a:xfrm>
        </p:spPr>
        <p:txBody>
          <a:bodyPr anchor="t">
            <a:normAutofit/>
          </a:bodyPr>
          <a:lstStyle/>
          <a:p>
            <a:r>
              <a:rPr lang="en-US" sz="2000" dirty="0"/>
              <a:t>Invest in growing markets, Reactivate one-off bulk markets, Reconsider weak/unprofitable markets.</a:t>
            </a:r>
          </a:p>
          <a:p>
            <a:endParaRPr lang="en-PK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CA1B9DC-FBA9-B814-32E9-52FAE734A3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577864"/>
              </p:ext>
            </p:extLst>
          </p:nvPr>
        </p:nvGraphicFramePr>
        <p:xfrm>
          <a:off x="7204844" y="314947"/>
          <a:ext cx="3850758" cy="3114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9">
            <a:extLst>
              <a:ext uri="{FF2B5EF4-FFF2-40B4-BE49-F238E27FC236}">
                <a16:creationId xmlns:a16="http://schemas.microsoft.com/office/drawing/2014/main" id="{FEEB9688-4E8D-AD93-5D16-780098A7C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417" y="1523328"/>
            <a:ext cx="3755572" cy="319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955948E-3B8D-81DE-76B3-C322486F9F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1656272"/>
              </p:ext>
            </p:extLst>
          </p:nvPr>
        </p:nvGraphicFramePr>
        <p:xfrm>
          <a:off x="7131644" y="3286745"/>
          <a:ext cx="3923958" cy="2959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2FC877-1159-C1FA-9717-EB2E34AFDFF2}"/>
              </a:ext>
            </a:extLst>
          </p:cNvPr>
          <p:cNvSpPr txBox="1"/>
          <p:nvPr/>
        </p:nvSpPr>
        <p:spPr>
          <a:xfrm>
            <a:off x="1136398" y="416577"/>
            <a:ext cx="631596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00" b="1" dirty="0">
                <a:latin typeface="+mj-lt"/>
              </a:rPr>
              <a:t>Geographic Performance</a:t>
            </a:r>
            <a:endParaRPr lang="en-PK" sz="37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119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D6CD2-301E-EEE9-F412-B08C1C6A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DE062-E853-4BD1-4B59-CBC19E70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Territorial Analysis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E880-2761-2568-7FDA-15626AE2E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285750"/>
            <a:r>
              <a:rPr lang="en-US" sz="2000" dirty="0"/>
              <a:t>Wide product adoption (75% of territories engaged).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Focus growth efforts on inactive northern, southern, and western territories.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Consider regional promotions to boost awareness and trial in underperforming territories.</a:t>
            </a:r>
          </a:p>
          <a:p>
            <a:pPr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5" name="Picture 2" descr="A graph showing the number of territories carrying top product per product&#10;&#10;AI-generated content may be incorrect.">
            <a:extLst>
              <a:ext uri="{FF2B5EF4-FFF2-40B4-BE49-F238E27FC236}">
                <a16:creationId xmlns:a16="http://schemas.microsoft.com/office/drawing/2014/main" id="{66C67A67-D98C-609E-F9CA-94032B03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817845"/>
            <a:ext cx="5201023" cy="280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53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1" name="Rectangle 413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312F1-A4DD-28EA-54BA-CA3F32E3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631596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Employee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6FA8-DD12-E0CD-5703-008FDDA41DE7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Margaret generates the </a:t>
            </a:r>
            <a:r>
              <a:rPr lang="en-US" sz="2000" b="1" dirty="0"/>
              <a:t>highest sales revenue</a:t>
            </a:r>
            <a:r>
              <a:rPr lang="en-US" sz="2000" dirty="0"/>
              <a:t>, showing her ability to maximize order value.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Andrew places the </a:t>
            </a:r>
            <a:r>
              <a:rPr lang="en-US" sz="2000" b="1" dirty="0"/>
              <a:t>most number of orders</a:t>
            </a:r>
            <a:r>
              <a:rPr lang="en-US" sz="2000" dirty="0"/>
              <a:t>, highlighting strong customer engagement and activity.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Steven is consistently low in both orders and sales → needs coaching/support.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098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6C3F3A3F-78C0-ED71-2E95-F46BE60A0E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811344"/>
            <a:ext cx="5201023" cy="282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3" name="Rectangle 413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5" name="Rectangle 413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8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A53B0-15B6-7D95-8C5E-87EB938F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45" y="745089"/>
            <a:ext cx="7317446" cy="876309"/>
          </a:xfrm>
        </p:spPr>
        <p:txBody>
          <a:bodyPr anchor="t">
            <a:normAutofit fontScale="90000"/>
          </a:bodyPr>
          <a:lstStyle/>
          <a:p>
            <a:r>
              <a:rPr lang="en-US" sz="4000" b="1" dirty="0"/>
              <a:t>Territories vs Employee Performance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0906-3533-466E-7B0D-C877E26DE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380" y="2050219"/>
            <a:ext cx="4152761" cy="3108960"/>
          </a:xfrm>
        </p:spPr>
        <p:txBody>
          <a:bodyPr anchor="t">
            <a:normAutofit fontScale="70000" lnSpcReduction="20000"/>
          </a:bodyPr>
          <a:lstStyle/>
          <a:p>
            <a:pPr marL="285750" indent="-285750"/>
            <a:r>
              <a:rPr lang="en-US" sz="2000" dirty="0"/>
              <a:t>Eastern employees dominate sales (3 out of top 4 performers).</a:t>
            </a:r>
          </a:p>
          <a:p>
            <a:pPr marL="285750" indent="-285750"/>
            <a:r>
              <a:rPr lang="en-US" sz="2000" dirty="0"/>
              <a:t>Robert underperforms with 10 territories in Western region.</a:t>
            </a:r>
          </a:p>
          <a:p>
            <a:pPr marL="285750" indent="-285750"/>
            <a:r>
              <a:rPr lang="en-US" sz="2000" dirty="0"/>
              <a:t>Janet (Southern) shows strong efficiency and consistency.</a:t>
            </a:r>
          </a:p>
          <a:p>
            <a:pPr marL="285750" indent="-285750"/>
            <a:r>
              <a:rPr lang="en-US" sz="2000" dirty="0"/>
              <a:t>Northern region contribution is lowest (Anne).</a:t>
            </a:r>
          </a:p>
          <a:p>
            <a:pPr marL="0" indent="0">
              <a:buNone/>
            </a:pPr>
            <a:r>
              <a:rPr lang="en-US" sz="2000" b="1" dirty="0"/>
              <a:t>  Strategy:</a:t>
            </a:r>
          </a:p>
          <a:p>
            <a:pPr marL="285750" indent="-285750"/>
            <a:r>
              <a:rPr lang="en-US" sz="2000" dirty="0"/>
              <a:t>Expand Southern coverage, optimize Western &amp; Northern.</a:t>
            </a:r>
          </a:p>
          <a:p>
            <a:pPr marL="285750" indent="-285750"/>
            <a:r>
              <a:rPr lang="en-US" sz="2000" dirty="0"/>
              <a:t>Ensure allocation is based on market potential, not just equal headcount.</a:t>
            </a:r>
          </a:p>
          <a:p>
            <a:pPr marL="285750" indent="-285750"/>
            <a:r>
              <a:rPr lang="en-US" sz="2000" dirty="0"/>
              <a:t>Train underperformers to raise baseline performance.</a:t>
            </a:r>
          </a:p>
          <a:p>
            <a:endParaRPr lang="en-PK" sz="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ED9A1-43B8-2339-F905-DF36B9688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871" y="3141611"/>
            <a:ext cx="1102287" cy="1392571"/>
          </a:xfrm>
          <a:prstGeom prst="rect">
            <a:avLst/>
          </a:prstGeom>
        </p:spPr>
      </p:pic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FC8B5B7-9F85-A459-9291-C9E2D2338C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4178964"/>
              </p:ext>
            </p:extLst>
          </p:nvPr>
        </p:nvGraphicFramePr>
        <p:xfrm>
          <a:off x="5218544" y="1621399"/>
          <a:ext cx="5361349" cy="3966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9DA11E7-BB5C-157C-FB2A-2DE2A55F1B34}"/>
              </a:ext>
            </a:extLst>
          </p:cNvPr>
          <p:cNvSpPr txBox="1"/>
          <p:nvPr/>
        </p:nvSpPr>
        <p:spPr>
          <a:xfrm rot="18835500">
            <a:off x="8796071" y="3882951"/>
            <a:ext cx="504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Janet</a:t>
            </a:r>
            <a:endParaRPr lang="en-PK" sz="1100" dirty="0"/>
          </a:p>
        </p:txBody>
      </p:sp>
    </p:spTree>
    <p:extLst>
      <p:ext uri="{BB962C8B-B14F-4D97-AF65-F5344CB8AC3E}">
        <p14:creationId xmlns:p14="http://schemas.microsoft.com/office/powerpoint/2010/main" val="229375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57" name="Rectangle 515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95E22-1727-9EDB-10AE-DBDA36B6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87EFFB-7FE3-DA53-75CE-E1E7384828F3}"/>
              </a:ext>
            </a:extLst>
          </p:cNvPr>
          <p:cNvSpPr txBox="1"/>
          <p:nvPr/>
        </p:nvSpPr>
        <p:spPr>
          <a:xfrm>
            <a:off x="948439" y="2404702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Top Customers: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	QUICK-Stop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	Hanari Carnes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	Rattlesnake Canyon Grocery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Strategy</a:t>
            </a:r>
            <a:r>
              <a:rPr lang="en-US" sz="2000" dirty="0"/>
              <a:t>: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Focus personalized service for top accounts, while designing targeted promotions to activate and grow smaller customers.</a:t>
            </a:r>
          </a:p>
        </p:txBody>
      </p:sp>
      <p:pic>
        <p:nvPicPr>
          <p:cNvPr id="5122" name="Picture 2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D7BA2A7F-2023-7753-DAFD-67BF05ABEB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15002" y="1404257"/>
            <a:ext cx="5965808" cy="40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9" name="Rectangle 515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1" name="Rectangle 516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28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01" name="Rectangle 720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6D309-AA6D-0036-7D27-0A6507AC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6105651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8498C-EEAD-8F3F-8265-72FAEA88038F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Loyal customers buy frequently and generate highest revenue.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At-risk customers purchased previously but haven’t returned.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New customers entered in 1998, indicating healthy investment.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Strategy</a:t>
            </a:r>
            <a:r>
              <a:rPr lang="en-US" sz="17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Loyal: Retain with rewards, exclusives, and early access.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At-Risk</a:t>
            </a:r>
            <a:r>
              <a:rPr lang="en-US" sz="1700" b="1" dirty="0"/>
              <a:t>:</a:t>
            </a:r>
            <a:r>
              <a:rPr lang="en-US" sz="1700" dirty="0"/>
              <a:t> Re-engage via discounts or direct outreach.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New</a:t>
            </a:r>
            <a:r>
              <a:rPr lang="en-US" sz="1700" b="1" dirty="0"/>
              <a:t>:</a:t>
            </a:r>
            <a:r>
              <a:rPr lang="en-US" sz="1700" dirty="0"/>
              <a:t> Onboard with support and tailored offers.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7170" name="Picture 2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7CB05DA9-4870-43A5-AC67-6434991F35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3488" y="1966615"/>
            <a:ext cx="5201023" cy="36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03" name="Rectangle 720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5" name="Rectangle 720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4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08" name="Rectangle 1130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8D87D-7592-7A72-F28A-DD252005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46" y="849931"/>
            <a:ext cx="6788403" cy="992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Cross-Selling Opportunities</a:t>
            </a: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4DA37-2F97-16A2-1EB3-D6650307304D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Shows products that are bought frequently alongside Cte de Blaye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Flotemysost and Scottish Longbreads</a:t>
            </a:r>
            <a:r>
              <a:rPr lang="en-US" sz="2000" b="1" dirty="0"/>
              <a:t> </a:t>
            </a:r>
            <a:r>
              <a:rPr lang="en-US" sz="2000" dirty="0"/>
              <a:t>are most frequent products</a:t>
            </a:r>
          </a:p>
        </p:txBody>
      </p:sp>
      <p:sp>
        <p:nvSpPr>
          <p:cNvPr id="11310" name="Rectangle 1130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2" name="Rectangle 113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22CA802-EE57-9E33-3B72-1F0F96B40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7560891"/>
              </p:ext>
            </p:extLst>
          </p:nvPr>
        </p:nvGraphicFramePr>
        <p:xfrm>
          <a:off x="6620256" y="1842611"/>
          <a:ext cx="4869180" cy="3522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1510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6" name="Rectangle 718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1C9CC-0AAF-41FE-1502-9EAF9EAF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93" y="461963"/>
            <a:ext cx="5739891" cy="1227967"/>
          </a:xfrm>
        </p:spPr>
        <p:txBody>
          <a:bodyPr anchor="b">
            <a:normAutofit/>
          </a:bodyPr>
          <a:lstStyle/>
          <a:p>
            <a:r>
              <a:rPr lang="en-US" sz="3700" b="1" dirty="0"/>
              <a:t>Cross Selling Opportunities</a:t>
            </a:r>
            <a:endParaRPr lang="en-PK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048E-D761-F65A-678A-64557B38F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Côte de Blaye is frequently paired with Confections, Dairy, and Beverages — strong potential for bundle and cross-promotion strategies.</a:t>
            </a:r>
            <a:endParaRPr lang="en-PK" sz="2000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59DE5AD-0DAD-A421-18A8-8B6E4E59D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3488" y="1689930"/>
            <a:ext cx="5201023" cy="397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8" name="Rectangle 718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66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0D7E0-2F69-2BBE-752E-D2EC8597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Conclusion</a:t>
            </a:r>
            <a:endParaRPr lang="en-PK" sz="4000" b="1" dirty="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17A2F30-2758-1073-C323-2CA2D5B37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700" dirty="0"/>
              <a:t>Cte de Blaye leads revenue, with growth in U.S., Germany, and Brazil; Austria and weaker markets need reassessment.</a:t>
            </a:r>
          </a:p>
          <a:p>
            <a:r>
              <a:rPr lang="en-US" sz="1700" dirty="0"/>
              <a:t>Sales are rising year-over-year, peaking in Q4–Q1, with mid-year dips.</a:t>
            </a:r>
          </a:p>
          <a:p>
            <a:r>
              <a:rPr lang="en-US" sz="1700" dirty="0"/>
              <a:t>Employee &amp; territory performance is uneven.</a:t>
            </a:r>
          </a:p>
          <a:p>
            <a:r>
              <a:rPr lang="en-US" sz="1700" dirty="0"/>
              <a:t> Customers split into loyal, at-risk, new and top accounts (e.g., QUICK-Stop) need tailored engagement.</a:t>
            </a:r>
          </a:p>
          <a:p>
            <a:r>
              <a:rPr lang="en-US" sz="1700" dirty="0"/>
              <a:t>Cross-selling potential with Flotemysost, Scottish Longbreads, and categories like Confections, Dairy, and Beverages.</a:t>
            </a:r>
            <a:endParaRPr lang="en-PK" sz="17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Report Add">
            <a:extLst>
              <a:ext uri="{FF2B5EF4-FFF2-40B4-BE49-F238E27FC236}">
                <a16:creationId xmlns:a16="http://schemas.microsoft.com/office/drawing/2014/main" id="{C1BC40DA-A101-EE22-7F2B-7372E2F29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0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87E20-9A49-A7B6-A072-8328D138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3700" b="1" dirty="0"/>
              <a:t>Recommendations</a:t>
            </a:r>
            <a:endParaRPr lang="en-PK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D5C8-23C2-01B1-96F1-CB59A84E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dirty="0"/>
              <a:t>Focus on high-growth countries, optimize weak ones.</a:t>
            </a:r>
          </a:p>
          <a:p>
            <a:r>
              <a:rPr lang="en-US" sz="2000" dirty="0"/>
              <a:t>Maximize Q4–Q1 peaks, smooth seasonal dips with summer campaigns.</a:t>
            </a:r>
          </a:p>
          <a:p>
            <a:r>
              <a:rPr lang="en-US" sz="2000" dirty="0"/>
              <a:t>Train underperformers, expand strong Southern region, rebalance coverage.</a:t>
            </a:r>
          </a:p>
          <a:p>
            <a:r>
              <a:rPr lang="en-US" sz="2000" dirty="0"/>
              <a:t>Strengthen loyalty &amp; re-engage at-risk customers.</a:t>
            </a:r>
          </a:p>
          <a:p>
            <a:r>
              <a:rPr lang="en-US" sz="2000" dirty="0"/>
              <a:t>Use bundling &amp; category promotions to boost revenue.</a:t>
            </a:r>
            <a:endParaRPr lang="en-PK" sz="20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EA574AD5-77D9-0BFF-34FA-EFA8CC882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42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CE02A-A4A4-4400-0007-3DDF892C86DF}"/>
              </a:ext>
            </a:extLst>
          </p:cNvPr>
          <p:cNvSpPr txBox="1"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851</Words>
  <Application>Microsoft Office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Office Theme</vt:lpstr>
      <vt:lpstr>1_Office Theme</vt:lpstr>
      <vt:lpstr>Top Product: CTE de Blaye Sales Analysis using Northwind Dataset Key insights, trends, and growth opportunities </vt:lpstr>
      <vt:lpstr>Northwind Trading Company</vt:lpstr>
      <vt:lpstr>PowerPoint Presentation</vt:lpstr>
      <vt:lpstr>⚠️Problem Statement   🎯Project Goal</vt:lpstr>
      <vt:lpstr>Top 5 Product Generating Revenue</vt:lpstr>
      <vt:lpstr>Sales show a steady upward trend year over year, reflecting growing demand</vt:lpstr>
      <vt:lpstr>Quarter &amp; Monthly Sales Trend – Cte de Blaye</vt:lpstr>
      <vt:lpstr>Geographic Performance  Revenue by Country for Cte de Blaye</vt:lpstr>
      <vt:lpstr>    Country Behavior Over Time</vt:lpstr>
      <vt:lpstr>Territorial Analysis</vt:lpstr>
      <vt:lpstr>Employee Performance</vt:lpstr>
      <vt:lpstr>Territories vs Employee Performance</vt:lpstr>
      <vt:lpstr>Customer Insights</vt:lpstr>
      <vt:lpstr>Customer Segmentation</vt:lpstr>
      <vt:lpstr>Cross-Selling Opportunities</vt:lpstr>
      <vt:lpstr>Cross Selling Opportunities</vt:lpstr>
      <vt:lpstr>Conclusion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FA25-RPH-009 (UMAR  ALI)</dc:creator>
  <cp:lastModifiedBy>Memoona Naeem</cp:lastModifiedBy>
  <cp:revision>47</cp:revision>
  <dcterms:created xsi:type="dcterms:W3CDTF">2025-09-23T04:38:41Z</dcterms:created>
  <dcterms:modified xsi:type="dcterms:W3CDTF">2025-09-24T20:13:29Z</dcterms:modified>
</cp:coreProperties>
</file>